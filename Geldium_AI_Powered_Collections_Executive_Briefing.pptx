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01 • SYSTEM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B44"/>
                </a:solidFill>
                <a:latin typeface="Aptos"/>
              </a:rPr>
              <a:t>From customer signals to proactive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D91"/>
                </a:solidFill>
                <a:latin typeface="Aptos"/>
              </a:rPr>
              <a:t>A high-level operating model for responsible, scalable delinquency intervention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64008" cy="2468880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Customer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2011679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Payment history • missed payments
Credit score • utilization • DTI
Income • loan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7451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5B8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D9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574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57400"/>
            <a:ext cx="64008" cy="2468880"/>
          </a:xfrm>
          <a:prstGeom prst="rect">
            <a:avLst/>
          </a:prstGeom>
          <a:solidFill>
            <a:srgbClr val="34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2402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79192"/>
            <a:ext cx="2011679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Validated logistic regression
outputs a calibrated delinquency
probability + risk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187451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785B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D9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574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057400"/>
            <a:ext cx="64008" cy="2468880"/>
          </a:xfrm>
          <a:prstGeom prst="rect">
            <a:avLst/>
          </a:prstGeom>
          <a:solidFill>
            <a:srgbClr val="BE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2"/>
            <a:ext cx="2011679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Prioritize outreach by risk
Select proportionate intervention
Human review for sensitive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87451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E802D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D9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574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057400"/>
            <a:ext cx="64008" cy="246888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2402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Learning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679192"/>
            <a:ext cx="2011679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Record outcomes and feedback
Monitor drift, fairness &amp; calibration
Retrain only under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187451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2B44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83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Design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91947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B44"/>
                </a:solidFill>
                <a:latin typeface="Aptos"/>
              </a:rPr>
              <a:t>Use AI to prioritize attention—not to replace human judgment.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7D91"/>
                </a:solidFill>
                <a:latin typeface="Aptos"/>
              </a:rPr>
              <a:t>GELDIUM • AI-POWERED COLLECTIONS CONCEPT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A7D9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02 •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B44"/>
                </a:solidFill>
                <a:latin typeface="Aptos"/>
              </a:rPr>
              <a:t>How the system turns risk scores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D91"/>
                </a:solidFill>
                <a:latin typeface="Aptos"/>
              </a:rPr>
              <a:t>The system should separate prediction, intervention policy, and human judgment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" cy="3474720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23317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Payment behavior
• Missed/late counts
• Recency &amp; streaks
Financial pressure
• Credit utilization
• DTI • loan balance
Credit profile
• Credit score • tenure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828800"/>
            <a:ext cx="64008" cy="3474720"/>
          </a:xfrm>
          <a:prstGeom prst="rect">
            <a:avLst/>
          </a:prstGeom>
          <a:solidFill>
            <a:srgbClr val="34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011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50592"/>
            <a:ext cx="23317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Logistic regression
→ delinquency probability
→ calibrated score
→ Low / Medium / High risk
Validate threshold against
Collections capacity &amp;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828800"/>
            <a:ext cx="2423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1828800"/>
            <a:ext cx="64008" cy="3474720"/>
          </a:xfrm>
          <a:prstGeom prst="rect">
            <a:avLst/>
          </a:prstGeom>
          <a:solidFill>
            <a:srgbClr val="BE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01168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50592"/>
            <a:ext cx="201167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Policy layer
Low → monitor
Medium → timely reminder
High → proactive outreach
Escalate exceptions to a human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240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828800"/>
            <a:ext cx="64008" cy="347472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50592"/>
            <a:ext cx="18288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Capture:
• contact outcome
• realized delinquency
• customer response
Monitor drift,
calibration &amp; fairness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44B4B"/>
                </a:solidFill>
                <a:latin typeface="Aptos"/>
              </a:rPr>
              <a:t>Guardrail: predictor ≠ decision maker. The risk score informs an approved intervention policy; it does not automatically determine treatment.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7D91"/>
                </a:solidFill>
                <a:latin typeface="Aptos"/>
              </a:rPr>
              <a:t>GELDIUM • AI-POWERED COLLECTIONS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A7D9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03 •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B44"/>
                </a:solidFill>
                <a:latin typeface="Aptos"/>
              </a:rPr>
              <a:t>Where autonomy stops and human judgment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D91"/>
                </a:solidFill>
                <a:latin typeface="Aptos"/>
              </a:rPr>
              <a:t>Agentic AI can orchestrate routine work, but high-impact decisions remain governed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3886200"/>
          </a:xfrm>
          <a:prstGeom prst="rect">
            <a:avLst/>
          </a:prstGeom>
          <a:solidFill>
            <a:srgbClr val="34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AUTONOMOUS / CONTROLLED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4937759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• Refresh approved customer data and run validated scoring
• Rank customers by model risk score
• Trigger approved reminders within policy limits
• Summarize account history for collectors
• Detect drift / missing data / rule violations
• Log every action, input and model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3492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828800"/>
            <a:ext cx="64008" cy="3886200"/>
          </a:xfrm>
          <a:prstGeom prst="rect">
            <a:avLst/>
          </a:prstGeom>
          <a:solidFill>
            <a:srgbClr val="BE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0116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HUMAN OVERSIGHT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50592"/>
            <a:ext cx="4937759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• Approve changes to risk thresholds or intervention policy
• Review sensitive or exceptional customer cases
• Handle complaints, disputes and hardship signals
• Approve model releases and retraining
• Review fairness and performance reports
• Override automated actions when policy requires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Autonomy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87044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Automate repeatable, reversible tasks; require human approval for consequential, ambiguous, or exceptional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7D91"/>
                </a:solidFill>
                <a:latin typeface="Aptos"/>
              </a:rPr>
              <a:t>GELDIUM • AI-POWERED COLLECTIONS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A7D9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04 •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B44"/>
                </a:solidFill>
                <a:latin typeface="Aptos"/>
              </a:rPr>
              <a:t>Guardrails before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D91"/>
                </a:solidFill>
                <a:latin typeface="Aptos"/>
              </a:rPr>
              <a:t>Fairness, explainability, compliance, and auditability are operating requirements—not add-ons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737360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Measure precision, recall, false-positive/negative rates and calibration across relevant groups. Investigate material disparities.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64008" cy="1737360"/>
          </a:xfrm>
          <a:prstGeom prst="rect">
            <a:avLst/>
          </a:prstGeom>
          <a:solidFill>
            <a:srgbClr val="34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5059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Show risk probability plus model-grounded drivers in plain language. Never present correlation as causation.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64008" cy="1737360"/>
          </a:xfrm>
          <a:prstGeom prst="rect">
            <a:avLst/>
          </a:prstGeom>
          <a:solidFill>
            <a:srgbClr val="BE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COMPLIANCE &amp;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Use only justified data, restrict access, document purpose and retention, and review applicable financial-services requirements.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64008" cy="173736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0799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Version models and policies; log scores, decisions, overrides and outcomes. Maintain rollback and incident-review procedures.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Responsible-use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92531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92B44"/>
                </a:solidFill>
                <a:latin typeface="Aptos"/>
              </a:rPr>
              <a:t>AI should support fair, proportionate assistance—not punitive treatment based solely on a predicted risk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7D91"/>
                </a:solidFill>
                <a:latin typeface="Aptos"/>
              </a:rPr>
              <a:t>GELDIUM • AI-POWERED COLLECTIONS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A7D9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5B8C"/>
                </a:solidFill>
                <a:latin typeface="Aptos"/>
              </a:rPr>
              <a:t>05 •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B44"/>
                </a:solidFill>
                <a:latin typeface="Aptos"/>
              </a:rPr>
              <a:t>Measure outcomes, not just model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D91"/>
                </a:solidFill>
                <a:latin typeface="Aptos"/>
              </a:rPr>
              <a:t>Pilot first, establish a baseline/control, then scale only when customer and risk outcomes improve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3611880"/>
          </a:xfrm>
          <a:prstGeom prst="rect">
            <a:avLst/>
          </a:prstGeom>
          <a:solidFill>
            <a:srgbClr val="3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BUSINESS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4937759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• Delinquency rate among high-risk customers
• Recall of genuinely delinquent customers
• Precision of high-risk outreach
• PR-AUC / ROC-AUC and probability calibration
• Outreach-to-resolution rate
• Cost per successful intervention
• Collections productivity / cases prioritized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828800"/>
            <a:ext cx="64008" cy="3611880"/>
          </a:xfrm>
          <a:prstGeom prst="rect">
            <a:avLst/>
          </a:prstGeom>
          <a:solidFill>
            <a:srgbClr val="347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0116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2B44"/>
                </a:solidFill>
                <a:latin typeface="Aptos"/>
              </a:rPr>
              <a:t>CUSTOMER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50592"/>
            <a:ext cx="4937759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• Earlier, more relevant support
• Fewer unnecessary contacts
• Consistent treatment across groups
• Clear reasons for outreach
• Accessible human escalation
• Reduced avoidable customer friction
• Transparent handling of complaints and overrides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E802D"/>
                </a:solidFill>
                <a:latin typeface="Aptos"/>
              </a:rPr>
              <a:t>90-day pilot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696712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92B44"/>
                </a:solidFill>
                <a:latin typeface="Aptos"/>
              </a:rPr>
              <a:t>Test the workflow on a controlled high-risk segment, compare outcomes with a defined baseline/control, review fairness and customer feedback, then decide whether to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7D91"/>
                </a:solidFill>
                <a:latin typeface="Aptos"/>
              </a:rPr>
              <a:t>GELDIUM • AI-POWERED COLLECTIONS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A7D9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